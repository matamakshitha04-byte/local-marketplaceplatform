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619A5-18DB-4498-91FC-50DE2C905E88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E4FAE-B2AC-4C0B-8AB0-A9E22887C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361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E4FAE-B2AC-4C0B-8AB0-A9E22887CEF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332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390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176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898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688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875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032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610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7806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075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096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105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7304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54836" y="502920"/>
            <a:ext cx="4389120" cy="4389120"/>
          </a:xfrm>
          <a:prstGeom prst="ellipse">
            <a:avLst/>
          </a:prstGeom>
          <a:solidFill>
            <a:srgbClr val="2A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83040" y="3246120"/>
            <a:ext cx="3108960" cy="3108960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2492" y="1083613"/>
            <a:ext cx="530352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1BA49B"/>
                </a:solidFill>
                <a:latin typeface="Aptos"/>
              </a:defRPr>
            </a:pPr>
            <a:r>
              <a:rPr sz="2000" dirty="0">
                <a:latin typeface="Baskerville Old Face" panose="02020602080505020303" pitchFamily="18" charset="0"/>
              </a:rPr>
              <a:t>MERN STACK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492" y="1428323"/>
            <a:ext cx="8046720" cy="56015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MARKETPLACE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816352"/>
            <a:ext cx="704088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000" b="0">
                <a:solidFill>
                  <a:srgbClr val="D5E3F4"/>
                </a:solidFill>
                <a:latin typeface="Aptos"/>
              </a:defRPr>
            </a:pPr>
            <a:r>
              <a:rPr dirty="0">
                <a:latin typeface="Forte" panose="03060902040502070203" pitchFamily="66" charset="0"/>
              </a:rPr>
              <a:t>A MERN Stack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429000"/>
            <a:ext cx="685800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Century Schoolbook" panose="02040604050505020304" pitchFamily="18" charset="0"/>
              </a:rPr>
              <a:t>Connecting local sellers with nearby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4800600"/>
            <a:ext cx="7710063" cy="114492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D5E3F4"/>
                </a:solidFill>
                <a:latin typeface="Aptos"/>
              </a:defRPr>
            </a:pPr>
            <a:r>
              <a:rPr sz="2400" b="1" i="1" dirty="0">
                <a:latin typeface="Century Schoolbook" panose="02040604050505020304" pitchFamily="18" charset="0"/>
              </a:rPr>
              <a:t>Presented by:</a:t>
            </a:r>
            <a:r>
              <a:rPr lang="en-IN" sz="2400" b="1" i="1" dirty="0">
                <a:latin typeface="Century Schoolbook" panose="02040604050505020304" pitchFamily="18" charset="0"/>
              </a:rPr>
              <a:t> </a:t>
            </a:r>
            <a:r>
              <a:rPr lang="en-IN" sz="1600" dirty="0">
                <a:latin typeface="Century Schoolbook" panose="02040604050505020304" pitchFamily="18" charset="0"/>
              </a:rPr>
              <a:t>MATAM AKSHITHA -25MVCSMR0417</a:t>
            </a:r>
          </a:p>
          <a:p>
            <a:pPr>
              <a:defRPr sz="1400" b="0">
                <a:solidFill>
                  <a:srgbClr val="D5E3F4"/>
                </a:solidFill>
                <a:latin typeface="Aptos"/>
              </a:defRPr>
            </a:pPr>
            <a:r>
              <a:rPr lang="en-IN" sz="1600" dirty="0">
                <a:latin typeface="Century Schoolbook" panose="02040604050505020304" pitchFamily="18" charset="0"/>
              </a:rPr>
              <a:t>                                      T.EUNICE DIVYA – 25MVCSMR0446</a:t>
            </a:r>
          </a:p>
          <a:p>
            <a:pPr>
              <a:defRPr sz="1400" b="0">
                <a:solidFill>
                  <a:srgbClr val="D5E3F4"/>
                </a:solidFill>
                <a:latin typeface="Aptos"/>
              </a:defRPr>
            </a:pPr>
            <a:r>
              <a:rPr lang="en-IN" sz="1600" dirty="0">
                <a:latin typeface="Century Schoolbook" panose="02040604050505020304" pitchFamily="18" charset="0"/>
              </a:rPr>
              <a:t>                                       SAIGARI TEJASHWINI – 25MVCSMRO435</a:t>
            </a:r>
          </a:p>
          <a:p>
            <a:pPr>
              <a:defRPr sz="1400" b="0">
                <a:solidFill>
                  <a:srgbClr val="D5E3F4"/>
                </a:solidFill>
                <a:latin typeface="Aptos"/>
              </a:defRPr>
            </a:pPr>
            <a:r>
              <a:rPr lang="en-IN" sz="1600" dirty="0">
                <a:latin typeface="Century Schoolbook" panose="02040604050505020304" pitchFamily="18" charset="0"/>
              </a:rPr>
              <a:t>                                       E.VASANTHA- 25MVCSMR0391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 / 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700" b="1">
                <a:solidFill>
                  <a:srgbClr val="122344"/>
                </a:solidFill>
                <a:latin typeface="Aptos"/>
              </a:defRPr>
            </a:pPr>
            <a:r>
              <a:rPr sz="4800" dirty="0">
                <a:latin typeface="Lucida Bright" panose="02040602050505020304" pitchFamily="18" charset="0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143000" cy="54864"/>
          </a:xfrm>
          <a:prstGeom prst="rect">
            <a:avLst/>
          </a:prstGeom>
          <a:solidFill>
            <a:srgbClr val="2A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58952" y="167335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554480"/>
            <a:ext cx="1042416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Baskerville Old Face" panose="02020602080505020303" pitchFamily="18" charset="0"/>
              </a:rPr>
              <a:t>A local marketplace connects neighborhood sellers and customers through one online platform.</a:t>
            </a:r>
          </a:p>
        </p:txBody>
      </p:sp>
      <p:sp>
        <p:nvSpPr>
          <p:cNvPr id="7" name="Oval 6"/>
          <p:cNvSpPr/>
          <p:nvPr/>
        </p:nvSpPr>
        <p:spPr>
          <a:xfrm>
            <a:off x="758952" y="2340863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257247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Baskerville Old Face" panose="02020602080505020303" pitchFamily="18" charset="0"/>
              </a:rPr>
              <a:t>Sellers can list products with prices, quantities, and locations.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3008376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889504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Baskerville Old Face" panose="02020602080505020303" pitchFamily="18" charset="0"/>
              </a:rPr>
              <a:t>Customers can browse available products and discover nearby sellers.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3675887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557015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Baskerville Old Face" panose="02020602080505020303" pitchFamily="18" charset="0"/>
              </a:rPr>
              <a:t>The platform makes local product discovery more convenient.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955279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647282"/>
                </a:solidFill>
                <a:latin typeface="Aptos"/>
              </a:defRPr>
            </a:pPr>
            <a:r>
              <a:t>LOCAL MARKETPLACE PLATFORM  •  MERN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1000" b="1">
                <a:solidFill>
                  <a:srgbClr val="2A6ABE"/>
                </a:solidFill>
                <a:latin typeface="Aptos"/>
              </a:defRPr>
            </a:pPr>
            <a:r>
              <a:t>02 / 12</a:t>
            </a:r>
          </a:p>
        </p:txBody>
      </p:sp>
      <p:pic>
        <p:nvPicPr>
          <p:cNvPr id="16" name="Picture 15" descr="Kirana Stores Dominate Grocery Market Despite QC Advantages | Kishan Singh posted on the topic | LinkedIn">
            <a:extLst>
              <a:ext uri="{FF2B5EF4-FFF2-40B4-BE49-F238E27FC236}">
                <a16:creationId xmlns:a16="http://schemas.microsoft.com/office/drawing/2014/main" id="{9DE4F21B-CC0F-677B-0CB9-555FACBE7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123" y="3921494"/>
            <a:ext cx="4479515" cy="24545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1404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700" b="1">
                <a:solidFill>
                  <a:srgbClr val="122344"/>
                </a:solidFill>
                <a:latin typeface="Aptos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143000" cy="54864"/>
          </a:xfrm>
          <a:prstGeom prst="rect">
            <a:avLst/>
          </a:prstGeom>
          <a:solidFill>
            <a:srgbClr val="2A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58952" y="167335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554480"/>
            <a:ext cx="1042416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Century Schoolbook" panose="02040604050505020304" pitchFamily="18" charset="0"/>
              </a:rPr>
              <a:t>Many small local sellers do not have an easy way to showcase products online.</a:t>
            </a:r>
          </a:p>
        </p:txBody>
      </p:sp>
      <p:sp>
        <p:nvSpPr>
          <p:cNvPr id="7" name="Oval 6"/>
          <p:cNvSpPr/>
          <p:nvPr/>
        </p:nvSpPr>
        <p:spPr>
          <a:xfrm>
            <a:off x="758952" y="2340863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221991"/>
            <a:ext cx="1042416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Century Schoolbook" panose="02040604050505020304" pitchFamily="18" charset="0"/>
              </a:rPr>
              <a:t>Customers may struggle to find nearby sellers and compare product details.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3008376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889504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Century Schoolbook" panose="02040604050505020304" pitchFamily="18" charset="0"/>
              </a:rPr>
              <a:t>Stock, price, and location information can be difficult to keep updated.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3675887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557015"/>
            <a:ext cx="1042416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Century Schoolbook" panose="02040604050505020304" pitchFamily="18" charset="0"/>
              </a:rPr>
              <a:t>Solution: create a centralized web platform for listing and managing local products.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955279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647282"/>
                </a:solidFill>
                <a:latin typeface="Aptos"/>
              </a:defRPr>
            </a:pPr>
            <a:r>
              <a:t>LOCAL MARKETPLACE PLATFORM  •  MERN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1000" b="1">
                <a:solidFill>
                  <a:srgbClr val="2A6ABE"/>
                </a:solidFill>
                <a:latin typeface="Aptos"/>
              </a:defRPr>
            </a:pPr>
            <a:r>
              <a:t>03 / 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700" b="1">
                <a:solidFill>
                  <a:srgbClr val="122344"/>
                </a:solidFill>
                <a:latin typeface="Aptos"/>
              </a:defRPr>
            </a:pPr>
            <a:r>
              <a:rPr sz="4800" dirty="0">
                <a:latin typeface="Forte" panose="03060902040502070203" pitchFamily="66" charset="0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143000" cy="54864"/>
          </a:xfrm>
          <a:prstGeom prst="rect">
            <a:avLst/>
          </a:prstGeom>
          <a:solidFill>
            <a:srgbClr val="2A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58952" y="167335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554480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Lucida Bright" panose="02040602050505020304" pitchFamily="18" charset="0"/>
              </a:rPr>
              <a:t>Demonstrate full-stack development using the MERN stack.</a:t>
            </a:r>
          </a:p>
        </p:txBody>
      </p:sp>
      <p:sp>
        <p:nvSpPr>
          <p:cNvPr id="7" name="Oval 6"/>
          <p:cNvSpPr/>
          <p:nvPr/>
        </p:nvSpPr>
        <p:spPr>
          <a:xfrm>
            <a:off x="758952" y="2340863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221991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Lucida Bright" panose="02040602050505020304" pitchFamily="18" charset="0"/>
              </a:rPr>
              <a:t>Implement Create, Read, Update, and Delete (CRUD) operations.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3008376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889504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Lucida Bright" panose="02040602050505020304" pitchFamily="18" charset="0"/>
              </a:rPr>
              <a:t>Build REST APIs with Node.js and Express.js.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3675887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557015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Lucida Bright" panose="02040602050505020304" pitchFamily="18" charset="0"/>
              </a:rPr>
              <a:t>Create an interactive frontend using React.js.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" y="4343400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224528"/>
            <a:ext cx="10424160" cy="151426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Lucida Bright" panose="02040602050505020304" pitchFamily="18" charset="0"/>
              </a:rPr>
              <a:t>Add authentication and role-based access </a:t>
            </a:r>
            <a:endParaRPr lang="en-IN" sz="2400" dirty="0">
              <a:latin typeface="Lucida Bright" panose="02040602050505020304" pitchFamily="18" charset="0"/>
            </a:endParaRPr>
          </a:p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Lucida Bright" panose="02040602050505020304" pitchFamily="18" charset="0"/>
              </a:rPr>
              <a:t>where required.</a:t>
            </a:r>
            <a:endParaRPr lang="en-IN" sz="2400" dirty="0">
              <a:latin typeface="Lucida Bright" panose="02040602050505020304" pitchFamily="18" charset="0"/>
            </a:endParaRPr>
          </a:p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endParaRPr lang="en-IN" sz="2400" dirty="0">
              <a:latin typeface="Lucida Bright" panose="02040602050505020304" pitchFamily="18" charset="0"/>
            </a:endParaRPr>
          </a:p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endParaRPr lang="en-IN" sz="2400" dirty="0">
              <a:latin typeface="Lucida Bright" panose="02040602050505020304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8952" y="501091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920255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>
                <a:latin typeface="Lucida Bright" panose="02040602050505020304" pitchFamily="18" charset="0"/>
              </a:rPr>
              <a:t>Present seller and product information clearly.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955279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647282"/>
                </a:solidFill>
                <a:latin typeface="Aptos"/>
              </a:defRPr>
            </a:pPr>
            <a:r>
              <a:t>LOCAL MARKETPLACE PLATFORM  •  MERN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1000" b="1">
                <a:solidFill>
                  <a:srgbClr val="2A6ABE"/>
                </a:solidFill>
                <a:latin typeface="Aptos"/>
              </a:defRPr>
            </a:pPr>
            <a:r>
              <a:t>04 / 12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42D72DD-5CE4-27C7-1D9D-732719C0C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321" y="3546249"/>
            <a:ext cx="4198374" cy="31487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700" b="1">
                <a:solidFill>
                  <a:srgbClr val="122344"/>
                </a:solidFill>
                <a:latin typeface="Aptos"/>
              </a:defRPr>
            </a:pPr>
            <a:r>
              <a:rPr sz="4800" dirty="0">
                <a:latin typeface="Britannic Bold" panose="020B0903060703020204" pitchFamily="34" charset="0"/>
              </a:rP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143000" cy="54864"/>
          </a:xfrm>
          <a:prstGeom prst="rect">
            <a:avLst/>
          </a:prstGeom>
          <a:solidFill>
            <a:srgbClr val="2A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58952" y="167335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554480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/>
              <a:t>MongoDB — stores users, sellers, and product records</a:t>
            </a:r>
            <a:r>
              <a:rPr dirty="0"/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758952" y="2340863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221991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/>
              <a:t>Express.js — defines API routes and handles HTTP requests.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3008376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889504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/>
              <a:t>React.js — creates the frontend pages and reusable components.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3675887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557015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/>
              <a:t>Node.js — runs the backend application</a:t>
            </a:r>
            <a:r>
              <a:rPr dirty="0"/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" y="4343400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181593"/>
            <a:ext cx="1042416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/>
              <a:t>JWT and </a:t>
            </a:r>
            <a:r>
              <a:rPr sz="2400" dirty="0" err="1"/>
              <a:t>bcrypt</a:t>
            </a:r>
            <a:r>
              <a:rPr sz="2400" dirty="0"/>
              <a:t> — optional tools for login sessions</a:t>
            </a:r>
            <a:endParaRPr lang="en-IN" sz="2400" dirty="0"/>
          </a:p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/>
              <a:t> and password hashing</a:t>
            </a:r>
            <a:r>
              <a:rPr dirty="0"/>
              <a:t>.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" y="501091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892040"/>
            <a:ext cx="1042416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400" dirty="0"/>
              <a:t>CSS / Bootstrap — supports responsive styling</a:t>
            </a:r>
            <a:r>
              <a:rPr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955279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647282"/>
                </a:solidFill>
                <a:latin typeface="Aptos"/>
              </a:defRPr>
            </a:pPr>
            <a:r>
              <a:t>LOCAL MARKETPLACE PLATFORM  •  MERN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1000" b="1">
                <a:solidFill>
                  <a:srgbClr val="2A6ABE"/>
                </a:solidFill>
                <a:latin typeface="Aptos"/>
              </a:defRPr>
            </a:pPr>
            <a:r>
              <a:t>05 / 12</a:t>
            </a:r>
          </a:p>
        </p:txBody>
      </p:sp>
      <p:pic>
        <p:nvPicPr>
          <p:cNvPr id="19" name="Picture 18" descr="MERN Stack Development Services India | React, Node.js, MongoDB | A.S Web Matrix | A.S Web Matrix - Top Digital  Agency India">
            <a:extLst>
              <a:ext uri="{FF2B5EF4-FFF2-40B4-BE49-F238E27FC236}">
                <a16:creationId xmlns:a16="http://schemas.microsoft.com/office/drawing/2014/main" id="{D68854EB-F4AB-626B-5727-5609E7EE9B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7276" y="-1076702"/>
            <a:ext cx="12486968" cy="8744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1404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700" b="1">
                <a:solidFill>
                  <a:srgbClr val="122344"/>
                </a:solidFill>
                <a:latin typeface="Aptos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143000" cy="54864"/>
          </a:xfrm>
          <a:prstGeom prst="rect">
            <a:avLst/>
          </a:prstGeom>
          <a:solidFill>
            <a:srgbClr val="2A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971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A6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84832"/>
            <a:ext cx="2697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500" b="1">
                <a:solidFill>
                  <a:srgbClr val="2A6ABE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69748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700" b="1">
                <a:solidFill>
                  <a:srgbClr val="243041"/>
                </a:solidFill>
                <a:latin typeface="Aptos"/>
              </a:defRPr>
            </a:pPr>
            <a:r>
              <a:t>React.js</a:t>
            </a:r>
            <a:br/>
            <a:r>
              <a:t>Pages &amp;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2971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BA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2084832"/>
            <a:ext cx="2697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500" b="1">
                <a:solidFill>
                  <a:srgbClr val="1BA49B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606040"/>
            <a:ext cx="269748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700" b="1">
                <a:solidFill>
                  <a:srgbClr val="243041"/>
                </a:solidFill>
                <a:latin typeface="Aptos"/>
              </a:defRPr>
            </a:pPr>
            <a:r>
              <a:t>Node.js + Express.js</a:t>
            </a:r>
            <a:br/>
            <a:r>
              <a:t>REST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828800"/>
            <a:ext cx="2971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2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2084832"/>
            <a:ext cx="2697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500" b="1">
                <a:solidFill>
                  <a:srgbClr val="122344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606040"/>
            <a:ext cx="269748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700" b="1">
                <a:solidFill>
                  <a:srgbClr val="243041"/>
                </a:solidFill>
                <a:latin typeface="Aptos"/>
              </a:defRPr>
            </a:pPr>
            <a:r>
              <a:t>MongoDB</a:t>
            </a:r>
            <a:br/>
            <a:r>
              <a:t>Users &amp;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331720"/>
            <a:ext cx="594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800" b="1">
                <a:solidFill>
                  <a:srgbClr val="1BA49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331720"/>
            <a:ext cx="594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800" b="1">
                <a:solidFill>
                  <a:srgbClr val="1BA49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332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800" b="1">
                <a:solidFill>
                  <a:srgbClr val="2A6ABE"/>
                </a:solidFill>
                <a:latin typeface="Aptos"/>
              </a:defRPr>
            </a:pPr>
            <a:r>
              <a:t>Request → Processing → Database result → Response</a:t>
            </a:r>
          </a:p>
        </p:txBody>
      </p:sp>
      <p:sp>
        <p:nvSpPr>
          <p:cNvPr id="17" name="Oval 16"/>
          <p:cNvSpPr/>
          <p:nvPr/>
        </p:nvSpPr>
        <p:spPr>
          <a:xfrm>
            <a:off x="758952" y="482803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709160"/>
            <a:ext cx="10424160" cy="2377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Frontend: React pages for customers and sellers.</a:t>
            </a:r>
          </a:p>
        </p:txBody>
      </p:sp>
      <p:sp>
        <p:nvSpPr>
          <p:cNvPr id="19" name="Oval 18"/>
          <p:cNvSpPr/>
          <p:nvPr/>
        </p:nvSpPr>
        <p:spPr>
          <a:xfrm>
            <a:off x="758952" y="5111496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992624"/>
            <a:ext cx="10424160" cy="2377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Backend: Node.js + Express.js REST API.</a:t>
            </a:r>
          </a:p>
        </p:txBody>
      </p:sp>
      <p:sp>
        <p:nvSpPr>
          <p:cNvPr id="21" name="Oval 20"/>
          <p:cNvSpPr/>
          <p:nvPr/>
        </p:nvSpPr>
        <p:spPr>
          <a:xfrm>
            <a:off x="758952" y="5394960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" y="5276088"/>
            <a:ext cx="10424160" cy="2377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Database: MongoDB collections for users and products.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" y="5678424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5559552"/>
            <a:ext cx="10424160" cy="2377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Request flow: React UI → REST API → MongoDB → API response → React UI.</a:t>
            </a:r>
          </a:p>
        </p:txBody>
      </p:sp>
      <p:sp>
        <p:nvSpPr>
          <p:cNvPr id="25" name="Oval 24"/>
          <p:cNvSpPr/>
          <p:nvPr/>
        </p:nvSpPr>
        <p:spPr>
          <a:xfrm>
            <a:off x="758952" y="5961888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5843016"/>
            <a:ext cx="10424160" cy="2377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Role checks help restrict seller actions to authorized users.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7955279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647282"/>
                </a:solidFill>
                <a:latin typeface="Aptos"/>
              </a:defRPr>
            </a:pPr>
            <a:r>
              <a:t>LOCAL MARKETPLACE PLATFORM  •  MERN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1000" b="1">
                <a:solidFill>
                  <a:srgbClr val="2A6ABE"/>
                </a:solidFill>
                <a:latin typeface="Aptos"/>
              </a:defRPr>
            </a:pPr>
            <a:r>
              <a:t>06 / 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700" b="1">
                <a:solidFill>
                  <a:srgbClr val="122344"/>
                </a:solidFill>
                <a:latin typeface="Aptos"/>
              </a:defRPr>
            </a:pPr>
            <a:r>
              <a:rPr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MAIN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143000" cy="54864"/>
          </a:xfrm>
          <a:prstGeom prst="rect">
            <a:avLst/>
          </a:prstGeom>
          <a:solidFill>
            <a:srgbClr val="2A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58952" y="167335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554480"/>
            <a:ext cx="10424160" cy="71404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000" dirty="0"/>
              <a:t>Customer Module: browse products</a:t>
            </a:r>
            <a:endParaRPr lang="en-IN" sz="2000" dirty="0"/>
          </a:p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000" dirty="0"/>
              <a:t> and view price, stock, and seller location</a:t>
            </a:r>
            <a:r>
              <a:rPr sz="2400" dirty="0"/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758952" y="2340863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221991"/>
            <a:ext cx="10424160" cy="65248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000" dirty="0"/>
              <a:t>Seller Module: register or log in and </a:t>
            </a:r>
            <a:endParaRPr lang="en-IN" sz="2000" dirty="0"/>
          </a:p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000" dirty="0"/>
              <a:t>manage product listings.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3008376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889504"/>
            <a:ext cx="10424160" cy="65248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000" dirty="0"/>
              <a:t>Product Module: add, view, edit, and</a:t>
            </a:r>
            <a:endParaRPr lang="en-IN" sz="2000" dirty="0"/>
          </a:p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000" dirty="0"/>
              <a:t> remove product details.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3675887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587042"/>
            <a:ext cx="10424160" cy="71404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000" dirty="0"/>
              <a:t>Search &amp; Filter Module: find products</a:t>
            </a:r>
            <a:endParaRPr lang="en-IN" sz="2000" dirty="0"/>
          </a:p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000" dirty="0"/>
              <a:t> by name, category, or location</a:t>
            </a:r>
            <a:r>
              <a:rPr sz="2400" dirty="0"/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" y="4343400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8888" y="4322579"/>
            <a:ext cx="10424160" cy="65248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000" dirty="0"/>
              <a:t>Authentication Module: manage user</a:t>
            </a:r>
            <a:endParaRPr lang="en-IN" sz="2000" dirty="0"/>
          </a:p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000" dirty="0"/>
              <a:t> identity and permissions.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" y="501091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1595" y="4958990"/>
            <a:ext cx="10424160" cy="65248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000" dirty="0"/>
              <a:t>Admin Module (optional): review users</a:t>
            </a:r>
            <a:endParaRPr lang="en-IN" sz="2000" dirty="0"/>
          </a:p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rPr sz="2000" dirty="0"/>
              <a:t> or moderate listings.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955279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647282"/>
                </a:solidFill>
                <a:latin typeface="Aptos"/>
              </a:defRPr>
            </a:pPr>
            <a:r>
              <a:t>LOCAL MARKETPLACE PLATFORM  •  MERN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1000" b="1">
                <a:solidFill>
                  <a:srgbClr val="2A6ABE"/>
                </a:solidFill>
                <a:latin typeface="Aptos"/>
              </a:defRPr>
            </a:pPr>
            <a:r>
              <a:t>07 / 12</a:t>
            </a:r>
          </a:p>
        </p:txBody>
      </p:sp>
      <p:pic>
        <p:nvPicPr>
          <p:cNvPr id="19" name="Picture 18" descr="SellMate — Ecommerce Management Dashboard by Ripon Pal 🔥 on Dribbble">
            <a:extLst>
              <a:ext uri="{FF2B5EF4-FFF2-40B4-BE49-F238E27FC236}">
                <a16:creationId xmlns:a16="http://schemas.microsoft.com/office/drawing/2014/main" id="{DB60144E-D306-BB75-1ED4-8DCA84A1FC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5899355" y="628266"/>
            <a:ext cx="6292340" cy="50599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700" b="1">
                <a:solidFill>
                  <a:srgbClr val="122344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143000" cy="54864"/>
          </a:xfrm>
          <a:prstGeom prst="rect">
            <a:avLst/>
          </a:prstGeom>
          <a:solidFill>
            <a:srgbClr val="2A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A6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6634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600" b="1">
                <a:solidFill>
                  <a:srgbClr val="2A6ABE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6634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500" b="0">
                <a:solidFill>
                  <a:srgbClr val="243041"/>
                </a:solidFill>
                <a:latin typeface="Aptos"/>
              </a:defRPr>
            </a:pPr>
            <a:r>
              <a:t>name • email • passwordHash</a:t>
            </a:r>
            <a:br/>
            <a:r>
              <a:t>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BA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6634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600" b="1">
                <a:solidFill>
                  <a:srgbClr val="1BA49B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6634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500" b="0">
                <a:solidFill>
                  <a:srgbClr val="243041"/>
                </a:solidFill>
                <a:latin typeface="Aptos"/>
              </a:defRPr>
            </a:pPr>
            <a:r>
              <a:t>name • category • price • quantity</a:t>
            </a:r>
            <a:br/>
            <a:r>
              <a:t>location • sellerId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241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700" b="1">
                <a:solidFill>
                  <a:srgbClr val="2A6ABE"/>
                </a:solidFill>
                <a:latin typeface="Aptos"/>
              </a:defRPr>
            </a:pPr>
            <a:r>
              <a:t>Each product references its seller through sellerId.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" y="427939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4160520"/>
            <a:ext cx="10424160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Users collection: name, email, passwordHash, role.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" y="4672583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4553712"/>
            <a:ext cx="10424160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Products collection: name, description, category, price, quantity, location, sellerId.</a:t>
            </a:r>
          </a:p>
        </p:txBody>
      </p:sp>
      <p:sp>
        <p:nvSpPr>
          <p:cNvPr id="16" name="Oval 15"/>
          <p:cNvSpPr/>
          <p:nvPr/>
        </p:nvSpPr>
        <p:spPr>
          <a:xfrm>
            <a:off x="758952" y="5065776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4946904"/>
            <a:ext cx="10424160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sellerId links each product to the seller who owns it.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" y="5458968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5340096"/>
            <a:ext cx="10424160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Use validation for required fields, positive prices, and non-negative quantity.</a:t>
            </a:r>
          </a:p>
        </p:txBody>
      </p:sp>
      <p:sp>
        <p:nvSpPr>
          <p:cNvPr id="20" name="Oval 19"/>
          <p:cNvSpPr/>
          <p:nvPr/>
        </p:nvSpPr>
        <p:spPr>
          <a:xfrm>
            <a:off x="758952" y="5852159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5733288"/>
            <a:ext cx="10424160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Store passwords as secure hashes, never as plain 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955279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647282"/>
                </a:solidFill>
                <a:latin typeface="Aptos"/>
              </a:defRPr>
            </a:pPr>
            <a:r>
              <a:t>LOCAL MARKETPLACE PLATFORM  •  MERN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1000" b="1">
                <a:solidFill>
                  <a:srgbClr val="2A6ABE"/>
                </a:solidFill>
                <a:latin typeface="Aptos"/>
              </a:defRPr>
            </a:pPr>
            <a:r>
              <a:t>08 / 12</a:t>
            </a:r>
          </a:p>
        </p:txBody>
      </p:sp>
      <p:pic>
        <p:nvPicPr>
          <p:cNvPr id="24" name="Picture 23" descr="Introduction to MongoDB Tutorial (2025) | DbSchema">
            <a:extLst>
              <a:ext uri="{FF2B5EF4-FFF2-40B4-BE49-F238E27FC236}">
                <a16:creationId xmlns:a16="http://schemas.microsoft.com/office/drawing/2014/main" id="{4B9A1261-FFDC-D3DC-381E-21B6299F1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616" y="3877662"/>
            <a:ext cx="3811229" cy="25408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1404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700" b="1">
                <a:solidFill>
                  <a:srgbClr val="122344"/>
                </a:solidFill>
                <a:latin typeface="Aptos"/>
              </a:defRPr>
            </a:pPr>
            <a:r>
              <a:rPr sz="4400" dirty="0">
                <a:latin typeface="Century Schoolbook" panose="02040604050505020304" pitchFamily="18" charset="0"/>
              </a:rPr>
              <a:t>CRUD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143000" cy="54864"/>
          </a:xfrm>
          <a:prstGeom prst="rect">
            <a:avLst/>
          </a:prstGeom>
          <a:solidFill>
            <a:srgbClr val="2A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6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286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600" b="1">
                <a:solidFill>
                  <a:srgbClr val="2A6ABE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400" b="0">
                <a:solidFill>
                  <a:srgbClr val="243041"/>
                </a:solidFill>
                <a:latin typeface="Aptos"/>
              </a:defRPr>
            </a:pPr>
            <a:r>
              <a:t>Add a 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92024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BA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286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600" b="1">
                <a:solidFill>
                  <a:srgbClr val="1BA49B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400" b="0">
                <a:solidFill>
                  <a:srgbClr val="243041"/>
                </a:solidFill>
                <a:latin typeface="Aptos"/>
              </a:defRPr>
            </a:pPr>
            <a:r>
              <a:t>View listings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92024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2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2148840"/>
            <a:ext cx="2286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600" b="1">
                <a:solidFill>
                  <a:srgbClr val="122344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60604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400" b="0">
                <a:solidFill>
                  <a:srgbClr val="243041"/>
                </a:solidFill>
                <a:latin typeface="Aptos"/>
              </a:defRPr>
            </a:pPr>
            <a:r>
              <a:t>Edit details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92024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E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19" y="2148840"/>
            <a:ext cx="2286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600" b="1">
                <a:solidFill>
                  <a:srgbClr val="BE5656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260604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400" b="0">
                <a:solidFill>
                  <a:srgbClr val="243041"/>
                </a:solidFill>
                <a:latin typeface="Aptos"/>
              </a:defRPr>
            </a:pPr>
            <a:r>
              <a:t>Remove listing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106070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700" b="1">
                <a:solidFill>
                  <a:srgbClr val="2A6ABE"/>
                </a:solidFill>
                <a:latin typeface="Aptos"/>
              </a:defRPr>
            </a:pPr>
            <a:r>
              <a:t>Validate input and verify seller ownership before update or delete.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" y="441655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4297680"/>
            <a:ext cx="10424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Create: seller adds a new product listing.</a:t>
            </a:r>
          </a:p>
        </p:txBody>
      </p:sp>
      <p:sp>
        <p:nvSpPr>
          <p:cNvPr id="20" name="Oval 19"/>
          <p:cNvSpPr/>
          <p:nvPr/>
        </p:nvSpPr>
        <p:spPr>
          <a:xfrm>
            <a:off x="758952" y="478231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4663440"/>
            <a:ext cx="10424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Read: customer or seller views product details.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" y="514807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5029200"/>
            <a:ext cx="10424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Update: seller changes price, quantity, description, or location.</a:t>
            </a:r>
          </a:p>
        </p:txBody>
      </p:sp>
      <p:sp>
        <p:nvSpPr>
          <p:cNvPr id="24" name="Oval 23"/>
          <p:cNvSpPr/>
          <p:nvPr/>
        </p:nvSpPr>
        <p:spPr>
          <a:xfrm>
            <a:off x="758952" y="551383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" y="5394960"/>
            <a:ext cx="10424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Delete: seller removes a listing they own.</a:t>
            </a:r>
          </a:p>
        </p:txBody>
      </p:sp>
      <p:sp>
        <p:nvSpPr>
          <p:cNvPr id="26" name="Oval 25"/>
          <p:cNvSpPr/>
          <p:nvPr/>
        </p:nvSpPr>
        <p:spPr>
          <a:xfrm>
            <a:off x="758952" y="587959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4128" y="5760720"/>
            <a:ext cx="10424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The backend validates requests and checks authorization before changing records.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7955279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647282"/>
                </a:solidFill>
                <a:latin typeface="Aptos"/>
              </a:defRPr>
            </a:pPr>
            <a:r>
              <a:t>LOCAL MARKETPLACE PLATFORM  •  MERN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1000" b="1">
                <a:solidFill>
                  <a:srgbClr val="2A6ABE"/>
                </a:solidFill>
                <a:latin typeface="Aptos"/>
              </a:defRPr>
            </a:pPr>
            <a:r>
              <a:t>09 / 12</a:t>
            </a:r>
          </a:p>
        </p:txBody>
      </p:sp>
      <p:pic>
        <p:nvPicPr>
          <p:cNvPr id="30" name="Picture 29" descr="Web Application Development: A Complete Guide for 2025">
            <a:extLst>
              <a:ext uri="{FF2B5EF4-FFF2-40B4-BE49-F238E27FC236}">
                <a16:creationId xmlns:a16="http://schemas.microsoft.com/office/drawing/2014/main" id="{A3D21300-8112-AB6F-0B8D-596BD4A0D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761" y="3913632"/>
            <a:ext cx="3516999" cy="27157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700" b="1">
                <a:solidFill>
                  <a:srgbClr val="122344"/>
                </a:solidFill>
                <a:latin typeface="Aptos"/>
              </a:defRPr>
            </a:pPr>
            <a:r>
              <a:rPr sz="4800" dirty="0"/>
              <a:t>REST API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143000" cy="54864"/>
          </a:xfrm>
          <a:prstGeom prst="rect">
            <a:avLst/>
          </a:prstGeom>
          <a:solidFill>
            <a:srgbClr val="2A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58952" y="167335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554480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t>GET /api/products — retrieve product listings.</a:t>
            </a:r>
          </a:p>
        </p:txBody>
      </p:sp>
      <p:sp>
        <p:nvSpPr>
          <p:cNvPr id="7" name="Oval 6"/>
          <p:cNvSpPr/>
          <p:nvPr/>
        </p:nvSpPr>
        <p:spPr>
          <a:xfrm>
            <a:off x="758952" y="2340863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221991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t>GET /api/products/:id — retrieve one product.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3008376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889504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t>POST /api/products — create a listing (authenticated seller).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3675887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557015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t>PUT /api/products/:id — update a listing (owner only).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" y="4343400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224528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t>DELETE /api/products/:id — delete a listing (owner only).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" y="501091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892040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400" b="0">
                <a:solidFill>
                  <a:srgbClr val="243041"/>
                </a:solidFill>
                <a:latin typeface="Aptos"/>
              </a:defRPr>
            </a:pPr>
            <a:r>
              <a:t>POST /api/auth/register and POST /api/auth/login — account access.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955279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647282"/>
                </a:solidFill>
                <a:latin typeface="Aptos"/>
              </a:defRPr>
            </a:pPr>
            <a:r>
              <a:t>LOCAL MARKETPLACE PLATFORM  •  MERN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1000" b="1">
                <a:solidFill>
                  <a:srgbClr val="2A6ABE"/>
                </a:solidFill>
                <a:latin typeface="Aptos"/>
              </a:defRPr>
            </a:pPr>
            <a:r>
              <a:t>10 / 12</a:t>
            </a:r>
          </a:p>
        </p:txBody>
      </p:sp>
      <p:pic>
        <p:nvPicPr>
          <p:cNvPr id="19" name="Picture 18" descr="REST APIs — Beginner Friendly Guide | by Swastik Sharma | Medium">
            <a:extLst>
              <a:ext uri="{FF2B5EF4-FFF2-40B4-BE49-F238E27FC236}">
                <a16:creationId xmlns:a16="http://schemas.microsoft.com/office/drawing/2014/main" id="{083CAF70-B764-4718-C5CC-AC4B005F9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328" y="816274"/>
            <a:ext cx="6142705" cy="40951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700" b="1">
                <a:solidFill>
                  <a:srgbClr val="122344"/>
                </a:solidFill>
                <a:latin typeface="Aptos"/>
              </a:defRPr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 &amp;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143000" cy="54864"/>
          </a:xfrm>
          <a:prstGeom prst="rect">
            <a:avLst/>
          </a:prstGeom>
          <a:solidFill>
            <a:srgbClr val="2A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58952" y="167335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554480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Local sellers can publish and maintain product listings.</a:t>
            </a:r>
          </a:p>
        </p:txBody>
      </p:sp>
      <p:sp>
        <p:nvSpPr>
          <p:cNvPr id="7" name="Oval 6"/>
          <p:cNvSpPr/>
          <p:nvPr/>
        </p:nvSpPr>
        <p:spPr>
          <a:xfrm>
            <a:off x="758952" y="2340863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221991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Customers can discover nearby products and compare basic details.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3008376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889504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Product quantity and price information can be updated quickly.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3675887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557015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CRUD APIs demonstrate database operations and backend integration.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" y="4343400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224528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Responsive pages make the platform accessible on desktop and mobile.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955279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647282"/>
                </a:solidFill>
                <a:latin typeface="Aptos"/>
              </a:defRPr>
            </a:pPr>
            <a:r>
              <a:t>LOCAL MARKETPLACE PLATFORM  •  MERN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1000" b="1">
                <a:solidFill>
                  <a:srgbClr val="2A6ABE"/>
                </a:solidFill>
                <a:latin typeface="Aptos"/>
              </a:defRPr>
            </a:pPr>
            <a:r>
              <a:t>11 / 12</a:t>
            </a:r>
          </a:p>
        </p:txBody>
      </p:sp>
      <p:pic>
        <p:nvPicPr>
          <p:cNvPr id="17" name="Picture 16" descr="Grow Your Business Online with Smart SMB Digital Marketing | Refresh">
            <a:extLst>
              <a:ext uri="{FF2B5EF4-FFF2-40B4-BE49-F238E27FC236}">
                <a16:creationId xmlns:a16="http://schemas.microsoft.com/office/drawing/2014/main" id="{D5BBF8F3-FC6D-220A-370D-A7B929678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30020" y="1312753"/>
            <a:ext cx="4182860" cy="28062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1404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700" b="1">
                <a:solidFill>
                  <a:srgbClr val="122344"/>
                </a:solidFill>
                <a:latin typeface="Aptos"/>
              </a:defRPr>
            </a:pPr>
            <a:r>
              <a:rPr sz="4400" dirty="0">
                <a:latin typeface="Lucida Bright" panose="02040602050505020304" pitchFamily="18" charset="0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143000" cy="54864"/>
          </a:xfrm>
          <a:prstGeom prst="rect">
            <a:avLst/>
          </a:prstGeom>
          <a:solidFill>
            <a:srgbClr val="2A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58952" y="1673352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554480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The project demonstrates a complete MERN-based marketplace workflow.</a:t>
            </a:r>
          </a:p>
        </p:txBody>
      </p:sp>
      <p:sp>
        <p:nvSpPr>
          <p:cNvPr id="7" name="Oval 6"/>
          <p:cNvSpPr/>
          <p:nvPr/>
        </p:nvSpPr>
        <p:spPr>
          <a:xfrm>
            <a:off x="758952" y="2340863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221991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It combines a React interface, Express APIs, Node.js, and MongoDB.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3008376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889504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Future scope: product images, maps, reviews, favorites, and order tracking.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3675887"/>
            <a:ext cx="109728" cy="109728"/>
          </a:xfrm>
          <a:prstGeom prst="ellipse">
            <a:avLst/>
          </a:prstGeom>
          <a:solidFill>
            <a:srgbClr val="1B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557015"/>
            <a:ext cx="10424160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243041"/>
                </a:solidFill>
                <a:latin typeface="Aptos"/>
              </a:defRPr>
            </a:pPr>
            <a:r>
              <a:t>Further improvements: online payments, notifications, analytics, and delivery integration.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955279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647282"/>
                </a:solidFill>
                <a:latin typeface="Aptos"/>
              </a:defRPr>
            </a:pPr>
            <a:r>
              <a:t>LOCAL MARKETPLACE PLATFORM  •  MERN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1000" b="1">
                <a:solidFill>
                  <a:srgbClr val="2A6ABE"/>
                </a:solidFill>
                <a:latin typeface="Aptos"/>
              </a:defRPr>
            </a:pPr>
            <a:r>
              <a:t>12 / 12</a:t>
            </a:r>
          </a:p>
        </p:txBody>
      </p:sp>
      <p:pic>
        <p:nvPicPr>
          <p:cNvPr id="17" name="Picture 16" descr="How Mobile Apps Improve Local Commerce Engagement | Shopify Local Delivery&#10; – toolstr">
            <a:extLst>
              <a:ext uri="{FF2B5EF4-FFF2-40B4-BE49-F238E27FC236}">
                <a16:creationId xmlns:a16="http://schemas.microsoft.com/office/drawing/2014/main" id="{232E51FD-2CA1-DEEC-BD49-9A848C50F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5343"/>
            <a:ext cx="5437239" cy="29626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215FF14-FADA-8E4F-B3F3-13581B54105F}"/>
              </a:ext>
            </a:extLst>
          </p:cNvPr>
          <p:cNvSpPr txBox="1"/>
          <p:nvPr/>
        </p:nvSpPr>
        <p:spPr>
          <a:xfrm>
            <a:off x="5751871" y="4392460"/>
            <a:ext cx="7078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latin typeface="Britannic Bold" panose="020B0903060703020204" pitchFamily="34" charset="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43</TotalTime>
  <Words>922</Words>
  <Application>Microsoft Office PowerPoint</Application>
  <PresentationFormat>Widescreen</PresentationFormat>
  <Paragraphs>131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Aptos</vt:lpstr>
      <vt:lpstr>Baskerville Old Face</vt:lpstr>
      <vt:lpstr>Britannic Bold</vt:lpstr>
      <vt:lpstr>Cambria Math</vt:lpstr>
      <vt:lpstr>Century Schoolbook</vt:lpstr>
      <vt:lpstr>Forte</vt:lpstr>
      <vt:lpstr>Gill Sans MT</vt:lpstr>
      <vt:lpstr>Lucida Bright</vt:lpstr>
      <vt:lpstr>Times New Roman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Eunice Divya T</cp:lastModifiedBy>
  <cp:revision>2</cp:revision>
  <dcterms:created xsi:type="dcterms:W3CDTF">2013-01-27T09:14:16Z</dcterms:created>
  <dcterms:modified xsi:type="dcterms:W3CDTF">2026-10-10T05:04:11Z</dcterms:modified>
  <cp:category/>
</cp:coreProperties>
</file>